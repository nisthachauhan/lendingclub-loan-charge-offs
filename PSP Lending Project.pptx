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Newsreader"/>
      <p:regular r:id="rId12"/>
      <p:bold r:id="rId13"/>
      <p:italic r:id="rId14"/>
      <p:boldItalic r:id="rId15"/>
    </p:embeddedFont>
    <p:embeddedFont>
      <p:font typeface="DM Sans Light"/>
      <p:regular r:id="rId16"/>
      <p:bold r:id="rId17"/>
      <p:italic r:id="rId18"/>
      <p:boldItalic r:id="rId19"/>
    </p:embeddedFont>
    <p:embeddedFont>
      <p:font typeface="DM Sans SemiBold"/>
      <p:regular r:id="rId20"/>
      <p:bold r:id="rId21"/>
      <p:italic r:id="rId22"/>
      <p:boldItalic r:id="rId23"/>
    </p:embeddedFont>
    <p:embeddedFont>
      <p:font typeface="DM Sans"/>
      <p:regular r:id="rId24"/>
      <p:bold r:id="rId25"/>
      <p:italic r:id="rId26"/>
      <p:boldItalic r:id="rId27"/>
    </p:embeddedFont>
    <p:embeddedFont>
      <p:font typeface="Newsreader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ewsreaderSemiBold-boldItalic.fntdata"/><Relationship Id="rId30" Type="http://schemas.openxmlformats.org/officeDocument/2006/relationships/font" Target="fonts/NewsreaderSemiBold-italic.fntdata"/><Relationship Id="rId20" Type="http://schemas.openxmlformats.org/officeDocument/2006/relationships/font" Target="fonts/DMSansSemiBold-regular.fntdata"/><Relationship Id="rId22" Type="http://schemas.openxmlformats.org/officeDocument/2006/relationships/font" Target="fonts/DMSansSemiBold-italic.fntdata"/><Relationship Id="rId21" Type="http://schemas.openxmlformats.org/officeDocument/2006/relationships/font" Target="fonts/DMSansSemiBold-bold.fntdata"/><Relationship Id="rId24" Type="http://schemas.openxmlformats.org/officeDocument/2006/relationships/font" Target="fonts/DMSans-regular.fntdata"/><Relationship Id="rId23" Type="http://schemas.openxmlformats.org/officeDocument/2006/relationships/font" Target="fonts/DMSansSemiBold-boldItalic.fntdata"/><Relationship Id="rId26" Type="http://schemas.openxmlformats.org/officeDocument/2006/relationships/font" Target="fonts/DMSans-italic.fntdata"/><Relationship Id="rId25" Type="http://schemas.openxmlformats.org/officeDocument/2006/relationships/font" Target="fonts/DMSans-bold.fntdata"/><Relationship Id="rId28" Type="http://schemas.openxmlformats.org/officeDocument/2006/relationships/font" Target="fonts/NewsreaderSemiBold-regular.fntdata"/><Relationship Id="rId27" Type="http://schemas.openxmlformats.org/officeDocument/2006/relationships/font" Target="fonts/DMSans-boldItalic.fntdata"/><Relationship Id="rId29" Type="http://schemas.openxmlformats.org/officeDocument/2006/relationships/font" Target="fonts/NewsreaderSemiBo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Newsreader-bold.fntdata"/><Relationship Id="rId12" Type="http://schemas.openxmlformats.org/officeDocument/2006/relationships/font" Target="fonts/Newsreader-regular.fntdata"/><Relationship Id="rId15" Type="http://schemas.openxmlformats.org/officeDocument/2006/relationships/font" Target="fonts/Newsreader-boldItalic.fntdata"/><Relationship Id="rId14" Type="http://schemas.openxmlformats.org/officeDocument/2006/relationships/font" Target="fonts/Newsreader-italic.fntdata"/><Relationship Id="rId17" Type="http://schemas.openxmlformats.org/officeDocument/2006/relationships/font" Target="fonts/DMSansLight-bold.fntdata"/><Relationship Id="rId16" Type="http://schemas.openxmlformats.org/officeDocument/2006/relationships/font" Target="fonts/DMSansLight-regular.fntdata"/><Relationship Id="rId19" Type="http://schemas.openxmlformats.org/officeDocument/2006/relationships/font" Target="fonts/DMSansLight-boldItalic.fntdata"/><Relationship Id="rId18" Type="http://schemas.openxmlformats.org/officeDocument/2006/relationships/font" Target="fonts/DMSans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a87ff72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9a87ff72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9a87ff722e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9a87ff722e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a87ff722e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9a87ff722e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9a87ff722e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9a87ff722e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with:</a:t>
            </a:r>
            <a:endParaRPr/>
          </a:p>
          <a:p>
            <a:pPr indent="0" lvl="0" marL="0" rtl="0" algn="l">
              <a:spcBef>
                <a:spcPts val="0"/>
              </a:spcBef>
              <a:spcAft>
                <a:spcPts val="0"/>
              </a:spcAft>
              <a:buNone/>
            </a:pPr>
            <a:r>
              <a:rPr lang="en"/>
              <a:t>Now we have the Business Model and Market</a:t>
            </a:r>
            <a:endParaRPr/>
          </a:p>
          <a:p>
            <a:pPr indent="0" lvl="0" marL="0" rtl="0" algn="l">
              <a:spcBef>
                <a:spcPts val="0"/>
              </a:spcBef>
              <a:spcAft>
                <a:spcPts val="0"/>
              </a:spcAft>
              <a:buNone/>
            </a:pPr>
            <a:r>
              <a:rPr lang="en"/>
              <a:t>This is how everything comes together: how we make money, who we’re selling our tool to, and why to choose us</a:t>
            </a:r>
            <a:endParaRPr/>
          </a:p>
          <a:p>
            <a:pPr indent="0" lvl="0" marL="0" rtl="0" algn="l">
              <a:spcBef>
                <a:spcPts val="0"/>
              </a:spcBef>
              <a:spcAft>
                <a:spcPts val="0"/>
              </a:spcAft>
              <a:buNone/>
            </a:pPr>
            <a:r>
              <a:rPr lang="en"/>
              <a:t>First off, market opportunity</a:t>
            </a:r>
            <a:endParaRPr/>
          </a:p>
          <a:p>
            <a:pPr indent="0" lvl="0" marL="0" rtl="0" algn="l">
              <a:spcBef>
                <a:spcPts val="0"/>
              </a:spcBef>
              <a:spcAft>
                <a:spcPts val="0"/>
              </a:spcAft>
              <a:buNone/>
            </a:pPr>
            <a:r>
              <a:rPr lang="en"/>
              <a:t>LendingClub alone has gotten over 90 bil in originations. The market is huge and its not slowing down</a:t>
            </a:r>
            <a:endParaRPr/>
          </a:p>
          <a:p>
            <a:pPr indent="0" lvl="0" marL="0" rtl="0" algn="l">
              <a:spcBef>
                <a:spcPts val="0"/>
              </a:spcBef>
              <a:spcAft>
                <a:spcPts val="0"/>
              </a:spcAft>
              <a:buNone/>
            </a:pPr>
            <a:r>
              <a:rPr lang="en"/>
              <a:t>However, most institutional investors arent in it, not because they don’t want extra money, but because they don’t have a tool like ours</a:t>
            </a:r>
            <a:endParaRPr/>
          </a:p>
          <a:p>
            <a:pPr indent="0" lvl="0" marL="0" rtl="0" algn="l">
              <a:spcBef>
                <a:spcPts val="0"/>
              </a:spcBef>
              <a:spcAft>
                <a:spcPts val="0"/>
              </a:spcAft>
              <a:buNone/>
            </a:pPr>
            <a:r>
              <a:rPr lang="en"/>
              <a:t>This is where we come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here’s our revenue model, its very straightforward; 1.5% management fee on everything we manage, an extra 20% cut on returns that are above our benchmark. This is standard for institutional funds and it keeps our incentives aligned with our investors.</a:t>
            </a:r>
            <a:endParaRPr/>
          </a:p>
          <a:p>
            <a:pPr indent="0" lvl="0" marL="0" rtl="0" algn="l">
              <a:spcBef>
                <a:spcPts val="0"/>
              </a:spcBef>
              <a:spcAft>
                <a:spcPts val="0"/>
              </a:spcAft>
              <a:buNone/>
            </a:pPr>
            <a:r>
              <a:rPr lang="en"/>
              <a:t>Basically, we only win big when they win big. At 10 million assets under management by the second year, that should give us 150k in baseline revenue before any performance fees.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where we shine, our edge.</a:t>
            </a:r>
            <a:endParaRPr/>
          </a:p>
          <a:p>
            <a:pPr indent="0" lvl="0" marL="0" rtl="0" algn="l">
              <a:spcBef>
                <a:spcPts val="0"/>
              </a:spcBef>
              <a:spcAft>
                <a:spcPts val="0"/>
              </a:spcAft>
              <a:buNone/>
            </a:pPr>
            <a:r>
              <a:rPr lang="en"/>
              <a:t>This is where we’re different; our random forest model has a test AUROC of 0.7254, slightly above industry baseline of 0.72. This gives us confidence in our result to perform, and at the same time, our system is fully automated </a:t>
            </a:r>
            <a:r>
              <a:rPr lang="en"/>
              <a:t>and</a:t>
            </a:r>
            <a:r>
              <a:rPr lang="en"/>
              <a:t> always retraining on new data. No manual underwriting, no human bottleneck. As it grows, it will scale guaranteed.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lastly, who we’re selling to:</a:t>
            </a:r>
            <a:endParaRPr/>
          </a:p>
          <a:p>
            <a:pPr indent="0" lvl="0" marL="0" rtl="0" algn="l">
              <a:spcBef>
                <a:spcPts val="0"/>
              </a:spcBef>
              <a:spcAft>
                <a:spcPts val="0"/>
              </a:spcAft>
              <a:buNone/>
            </a:pPr>
            <a:r>
              <a:rPr lang="en"/>
              <a:t>We want </a:t>
            </a:r>
            <a:r>
              <a:rPr lang="en"/>
              <a:t>institutional</a:t>
            </a:r>
            <a:r>
              <a:rPr lang="en"/>
              <a:t> investors that are in the 10 to 500 M range; family offices, hedge funds, advisors; they are sitting on funds and want to make more money with them but with no data or tools, they can’t. We’re both the vehicle and infrastructure for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so we move onto our next slide, our asks.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9a87ff722e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9a87ff722e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asking for 2 million in seed funding to get highlander lending partners off the ground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majority will be used into deployed capital on LendingClub, 1.2 million. That is giving us funds to make money immediately, generating real returns from the jump. The rest will go towards other things like engineering/infrastructure, operations and compliance, and marketing/investor relations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our timeline and milestones</a:t>
            </a:r>
            <a:endParaRPr/>
          </a:p>
          <a:p>
            <a:pPr indent="0" lvl="0" marL="0" rtl="0" algn="l">
              <a:spcBef>
                <a:spcPts val="0"/>
              </a:spcBef>
              <a:spcAft>
                <a:spcPts val="0"/>
              </a:spcAft>
              <a:buNone/>
            </a:pPr>
            <a:r>
              <a:rPr lang="en"/>
              <a:t>The first year is about the proof; we’ll run it in a live environment, build a track record, and show that our model will hold up in the real world</a:t>
            </a:r>
            <a:endParaRPr/>
          </a:p>
          <a:p>
            <a:pPr indent="0" lvl="0" marL="0" rtl="0" algn="l">
              <a:spcBef>
                <a:spcPts val="0"/>
              </a:spcBef>
              <a:spcAft>
                <a:spcPts val="0"/>
              </a:spcAft>
              <a:buNone/>
            </a:pPr>
            <a:r>
              <a:rPr lang="en"/>
              <a:t>The second year would be to expand beyond lendingclub into new platforms, giving us even more capital.</a:t>
            </a:r>
            <a:endParaRPr/>
          </a:p>
          <a:p>
            <a:pPr indent="0" lvl="0" marL="0" rtl="0" algn="l">
              <a:spcBef>
                <a:spcPts val="0"/>
              </a:spcBef>
              <a:spcAft>
                <a:spcPts val="0"/>
              </a:spcAft>
              <a:buNone/>
            </a:pPr>
            <a:r>
              <a:rPr lang="en"/>
              <a:t>By the third year, we should have around 50 mil in </a:t>
            </a:r>
            <a:r>
              <a:rPr lang="en"/>
              <a:t>assets</a:t>
            </a:r>
            <a:r>
              <a:rPr lang="en"/>
              <a:t> under management, and potentially open up as a standalone service rather than just partners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that, we’ve shown you that we have the tool from our model, we know the market and the business, we just need the money to </a:t>
            </a:r>
            <a:r>
              <a:rPr lang="en"/>
              <a:t>execute.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lose-up of a modern glass structure. " id="513" name="Google Shape;513;p67"/>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514" name="Google Shape;514;p67"/>
          <p:cNvSpPr txBox="1"/>
          <p:nvPr>
            <p:ph type="title"/>
          </p:nvPr>
        </p:nvSpPr>
        <p:spPr>
          <a:xfrm>
            <a:off x="361975" y="923525"/>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Highlander Lender Partners</a:t>
            </a:r>
            <a:endParaRPr/>
          </a:p>
        </p:txBody>
      </p:sp>
      <p:sp>
        <p:nvSpPr>
          <p:cNvPr id="515" name="Google Shape;515;p67"/>
          <p:cNvSpPr txBox="1"/>
          <p:nvPr>
            <p:ph idx="3" type="body"/>
          </p:nvPr>
        </p:nvSpPr>
        <p:spPr>
          <a:xfrm>
            <a:off x="583500" y="3846123"/>
            <a:ext cx="3492600" cy="548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By Aaron Dimaya, Oliver Mendoza, and Nistha Hiteshkumar Chauhan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8"/>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Mission</a:t>
            </a:r>
            <a:endParaRPr/>
          </a:p>
        </p:txBody>
      </p:sp>
      <p:sp>
        <p:nvSpPr>
          <p:cNvPr id="521" name="Google Shape;521;p68"/>
          <p:cNvSpPr txBox="1"/>
          <p:nvPr/>
        </p:nvSpPr>
        <p:spPr>
          <a:xfrm>
            <a:off x="454650" y="1801500"/>
            <a:ext cx="4164300" cy="15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	</a:t>
            </a:r>
            <a:r>
              <a:rPr lang="en" sz="1200">
                <a:solidFill>
                  <a:schemeClr val="dk1"/>
                </a:solidFill>
                <a:latin typeface="DM Sans"/>
                <a:ea typeface="DM Sans"/>
                <a:cs typeface="DM Sans"/>
                <a:sym typeface="DM Sans"/>
              </a:rPr>
              <a:t>Platforms like </a:t>
            </a:r>
            <a:r>
              <a:rPr b="1" lang="en" sz="1200">
                <a:solidFill>
                  <a:schemeClr val="dk1"/>
                </a:solidFill>
                <a:latin typeface="DM Sans"/>
                <a:ea typeface="DM Sans"/>
                <a:cs typeface="DM Sans"/>
                <a:sym typeface="DM Sans"/>
              </a:rPr>
              <a:t>LendingClub</a:t>
            </a:r>
            <a:r>
              <a:rPr lang="en" sz="1200">
                <a:solidFill>
                  <a:schemeClr val="dk1"/>
                </a:solidFill>
                <a:latin typeface="DM Sans"/>
                <a:ea typeface="DM Sans"/>
                <a:cs typeface="DM Sans"/>
                <a:sym typeface="DM Sans"/>
              </a:rPr>
              <a:t> have made the P2P market both wide-reaching and easily accessible. However, LendingClub’s infrastructure to identify </a:t>
            </a:r>
            <a:r>
              <a:rPr lang="en" sz="1200">
                <a:solidFill>
                  <a:schemeClr val="dk1"/>
                </a:solidFill>
                <a:latin typeface="DM Sans"/>
                <a:ea typeface="DM Sans"/>
                <a:cs typeface="DM Sans"/>
                <a:sym typeface="DM Sans"/>
              </a:rPr>
              <a:t>potentially faulty borrowers is overall inadequate. This leads to lots of unnecessary risk being taken by investors and many potential investors being driven away.</a:t>
            </a:r>
            <a:endParaRPr sz="1200">
              <a:solidFill>
                <a:schemeClr val="dk1"/>
              </a:solidFill>
              <a:latin typeface="DM Sans"/>
              <a:ea typeface="DM Sans"/>
              <a:cs typeface="DM Sans"/>
              <a:sym typeface="DM Sans"/>
            </a:endParaRPr>
          </a:p>
        </p:txBody>
      </p:sp>
      <p:pic>
        <p:nvPicPr>
          <p:cNvPr id="522" name="Google Shape;522;p68"/>
          <p:cNvPicPr preferRelativeResize="0"/>
          <p:nvPr/>
        </p:nvPicPr>
        <p:blipFill>
          <a:blip r:embed="rId3">
            <a:alphaModFix/>
          </a:blip>
          <a:stretch>
            <a:fillRect/>
          </a:stretch>
        </p:blipFill>
        <p:spPr>
          <a:xfrm>
            <a:off x="5347288" y="831160"/>
            <a:ext cx="2911026" cy="1940678"/>
          </a:xfrm>
          <a:prstGeom prst="rect">
            <a:avLst/>
          </a:prstGeom>
          <a:noFill/>
          <a:ln>
            <a:noFill/>
          </a:ln>
        </p:spPr>
      </p:pic>
      <p:pic>
        <p:nvPicPr>
          <p:cNvPr id="523" name="Google Shape;523;p68"/>
          <p:cNvPicPr preferRelativeResize="0"/>
          <p:nvPr/>
        </p:nvPicPr>
        <p:blipFill>
          <a:blip r:embed="rId4">
            <a:alphaModFix/>
          </a:blip>
          <a:stretch>
            <a:fillRect/>
          </a:stretch>
        </p:blipFill>
        <p:spPr>
          <a:xfrm>
            <a:off x="5769375" y="2936538"/>
            <a:ext cx="2066862" cy="2066862"/>
          </a:xfrm>
          <a:prstGeom prst="rect">
            <a:avLst/>
          </a:prstGeom>
          <a:noFill/>
          <a:ln>
            <a:noFill/>
          </a:ln>
        </p:spPr>
      </p:pic>
      <p:sp>
        <p:nvSpPr>
          <p:cNvPr id="524" name="Google Shape;524;p68"/>
          <p:cNvSpPr txBox="1"/>
          <p:nvPr/>
        </p:nvSpPr>
        <p:spPr>
          <a:xfrm>
            <a:off x="466950" y="3337800"/>
            <a:ext cx="4139700" cy="9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	Our firm seeks to remedy this growing problem within the P2P market by introducing the most efficient and effective way to flag risky borrowers: machine learning</a:t>
            </a:r>
            <a:endParaRPr sz="12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9"/>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Tools</a:t>
            </a:r>
            <a:endParaRPr/>
          </a:p>
        </p:txBody>
      </p:sp>
      <p:pic>
        <p:nvPicPr>
          <p:cNvPr id="530" name="Google Shape;530;p69" title="unknown.PNG"/>
          <p:cNvPicPr preferRelativeResize="0"/>
          <p:nvPr/>
        </p:nvPicPr>
        <p:blipFill>
          <a:blip r:embed="rId3">
            <a:alphaModFix/>
          </a:blip>
          <a:stretch>
            <a:fillRect/>
          </a:stretch>
        </p:blipFill>
        <p:spPr>
          <a:xfrm>
            <a:off x="4397688" y="2030599"/>
            <a:ext cx="4622425" cy="1412412"/>
          </a:xfrm>
          <a:prstGeom prst="rect">
            <a:avLst/>
          </a:prstGeom>
          <a:noFill/>
          <a:ln>
            <a:noFill/>
          </a:ln>
        </p:spPr>
      </p:pic>
      <p:pic>
        <p:nvPicPr>
          <p:cNvPr id="531" name="Google Shape;531;p69" title="PNG image.PNG"/>
          <p:cNvPicPr preferRelativeResize="0"/>
          <p:nvPr/>
        </p:nvPicPr>
        <p:blipFill>
          <a:blip r:embed="rId4">
            <a:alphaModFix/>
          </a:blip>
          <a:stretch>
            <a:fillRect/>
          </a:stretch>
        </p:blipFill>
        <p:spPr>
          <a:xfrm>
            <a:off x="4397677" y="279055"/>
            <a:ext cx="4622436" cy="1574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0"/>
          <p:cNvSpPr txBox="1"/>
          <p:nvPr>
            <p:ph type="title"/>
          </p:nvPr>
        </p:nvSpPr>
        <p:spPr>
          <a:xfrm>
            <a:off x="361975" y="988775"/>
            <a:ext cx="4163100" cy="7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 Model and Market</a:t>
            </a:r>
            <a:endParaRPr/>
          </a:p>
        </p:txBody>
      </p:sp>
      <p:sp>
        <p:nvSpPr>
          <p:cNvPr id="537" name="Google Shape;537;p70"/>
          <p:cNvSpPr txBox="1"/>
          <p:nvPr>
            <p:ph idx="2" type="subTitle"/>
          </p:nvPr>
        </p:nvSpPr>
        <p:spPr>
          <a:xfrm>
            <a:off x="382691" y="2904306"/>
            <a:ext cx="12573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Market Opportunity</a:t>
            </a:r>
            <a:endParaRPr/>
          </a:p>
        </p:txBody>
      </p:sp>
      <p:sp>
        <p:nvSpPr>
          <p:cNvPr id="538" name="Google Shape;538;p70"/>
          <p:cNvSpPr txBox="1"/>
          <p:nvPr>
            <p:ph idx="3" type="subTitle"/>
          </p:nvPr>
        </p:nvSpPr>
        <p:spPr>
          <a:xfrm>
            <a:off x="377048" y="3119377"/>
            <a:ext cx="1689600" cy="969000"/>
          </a:xfrm>
          <a:prstGeom prst="rect">
            <a:avLst/>
          </a:prstGeom>
        </p:spPr>
        <p:txBody>
          <a:bodyPr anchorCtr="0" anchor="t" bIns="0" lIns="0" spcFirstLastPara="1" rIns="0" wrap="square" tIns="0">
            <a:noAutofit/>
          </a:bodyPr>
          <a:lstStyle/>
          <a:p>
            <a:pPr indent="-282575" lvl="0" marL="457200" rtl="0" algn="l">
              <a:spcBef>
                <a:spcPts val="0"/>
              </a:spcBef>
              <a:spcAft>
                <a:spcPts val="0"/>
              </a:spcAft>
              <a:buSzPts val="850"/>
              <a:buChar char="●"/>
            </a:pPr>
            <a:r>
              <a:rPr lang="en" sz="850"/>
              <a:t>LendingClub has originated over $90B in loans since founding</a:t>
            </a:r>
            <a:endParaRPr sz="850"/>
          </a:p>
          <a:p>
            <a:pPr indent="-282575" lvl="0" marL="457200" rtl="0" algn="l">
              <a:spcBef>
                <a:spcPts val="0"/>
              </a:spcBef>
              <a:spcAft>
                <a:spcPts val="0"/>
              </a:spcAft>
              <a:buSzPts val="850"/>
              <a:buChar char="●"/>
            </a:pPr>
            <a:r>
              <a:rPr lang="en" sz="850"/>
              <a:t>P2P lending is a multi-billion dollar alternative asset class</a:t>
            </a:r>
            <a:endParaRPr sz="850"/>
          </a:p>
          <a:p>
            <a:pPr indent="-282575" lvl="0" marL="457200" rtl="0" algn="l">
              <a:spcBef>
                <a:spcPts val="0"/>
              </a:spcBef>
              <a:spcAft>
                <a:spcPts val="0"/>
              </a:spcAft>
              <a:buSzPts val="850"/>
              <a:buChar char="●"/>
            </a:pPr>
            <a:r>
              <a:rPr lang="en" sz="850"/>
              <a:t>Low institutional participation</a:t>
            </a:r>
            <a:endParaRPr sz="850"/>
          </a:p>
        </p:txBody>
      </p:sp>
      <p:sp>
        <p:nvSpPr>
          <p:cNvPr id="539" name="Google Shape;539;p70"/>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Revenue Model</a:t>
            </a:r>
            <a:endParaRPr/>
          </a:p>
        </p:txBody>
      </p:sp>
      <p:sp>
        <p:nvSpPr>
          <p:cNvPr id="540" name="Google Shape;540;p70"/>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1.5% annual management fee on Assets Under Management</a:t>
            </a:r>
            <a:endParaRPr/>
          </a:p>
          <a:p>
            <a:pPr indent="-292100" lvl="0" marL="457200" rtl="0" algn="l">
              <a:spcBef>
                <a:spcPts val="0"/>
              </a:spcBef>
              <a:spcAft>
                <a:spcPts val="0"/>
              </a:spcAft>
              <a:buSzPts val="1000"/>
              <a:buChar char="●"/>
            </a:pPr>
            <a:r>
              <a:rPr lang="en"/>
              <a:t>20% performance fee on returns above benchmark</a:t>
            </a:r>
            <a:endParaRPr/>
          </a:p>
          <a:p>
            <a:pPr indent="-292100" lvl="0" marL="457200" rtl="0" algn="l">
              <a:spcBef>
                <a:spcPts val="0"/>
              </a:spcBef>
              <a:spcAft>
                <a:spcPts val="0"/>
              </a:spcAft>
              <a:buSzPts val="1000"/>
              <a:buChar char="●"/>
            </a:pPr>
            <a:r>
              <a:rPr lang="en"/>
              <a:t>Target: $10M AUM by Year 2, ~$150K baseline fee revenue</a:t>
            </a:r>
            <a:endParaRPr/>
          </a:p>
        </p:txBody>
      </p:sp>
      <p:sp>
        <p:nvSpPr>
          <p:cNvPr id="541" name="Google Shape;541;p70"/>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Our Edge</a:t>
            </a:r>
            <a:endParaRPr/>
          </a:p>
        </p:txBody>
      </p:sp>
      <p:sp>
        <p:nvSpPr>
          <p:cNvPr id="542" name="Google Shape;542;p70"/>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Random Forest Model: Test AUROC of 0.7254</a:t>
            </a:r>
            <a:endParaRPr/>
          </a:p>
          <a:p>
            <a:pPr indent="-292100" lvl="0" marL="457200" rtl="0" algn="l">
              <a:spcBef>
                <a:spcPts val="0"/>
              </a:spcBef>
              <a:spcAft>
                <a:spcPts val="0"/>
              </a:spcAft>
              <a:buSzPts val="1000"/>
              <a:buChar char="●"/>
            </a:pPr>
            <a:r>
              <a:rPr lang="en"/>
              <a:t>Fully automated: no manual underwriting, scales with increased AUM</a:t>
            </a:r>
            <a:endParaRPr/>
          </a:p>
          <a:p>
            <a:pPr indent="-292100" lvl="0" marL="457200" rtl="0" algn="l">
              <a:spcBef>
                <a:spcPts val="0"/>
              </a:spcBef>
              <a:spcAft>
                <a:spcPts val="0"/>
              </a:spcAft>
              <a:buSzPts val="1000"/>
              <a:buChar char="●"/>
            </a:pPr>
            <a:r>
              <a:rPr lang="en"/>
              <a:t>Continuous retraining as new loan data comes in</a:t>
            </a:r>
            <a:endParaRPr/>
          </a:p>
        </p:txBody>
      </p:sp>
      <p:sp>
        <p:nvSpPr>
          <p:cNvPr id="543" name="Google Shape;543;p70"/>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Target Customers</a:t>
            </a:r>
            <a:endParaRPr/>
          </a:p>
        </p:txBody>
      </p:sp>
      <p:sp>
        <p:nvSpPr>
          <p:cNvPr id="544" name="Google Shape;544;p70"/>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Family offices and hedge funds that manage from $10M up to $500M</a:t>
            </a:r>
            <a:endParaRPr/>
          </a:p>
          <a:p>
            <a:pPr indent="-292100" lvl="0" marL="457200" rtl="0" algn="l">
              <a:spcBef>
                <a:spcPts val="0"/>
              </a:spcBef>
              <a:spcAft>
                <a:spcPts val="0"/>
              </a:spcAft>
              <a:buSzPts val="1000"/>
              <a:buChar char="●"/>
            </a:pPr>
            <a:r>
              <a:rPr lang="en"/>
              <a:t>Registered investment advisors who want even more yield</a:t>
            </a:r>
            <a:endParaRPr/>
          </a:p>
          <a:p>
            <a:pPr indent="-292100" lvl="0" marL="457200" rtl="0" algn="l">
              <a:spcBef>
                <a:spcPts val="0"/>
              </a:spcBef>
              <a:spcAft>
                <a:spcPts val="0"/>
              </a:spcAft>
              <a:buSzPts val="1000"/>
              <a:buChar char="●"/>
            </a:pPr>
            <a:r>
              <a:rPr lang="en"/>
              <a:t>Investors with capital but no analytical tools</a:t>
            </a:r>
            <a:endParaRPr/>
          </a:p>
          <a:p>
            <a:pPr indent="-292100" lvl="0" marL="457200" rtl="0" algn="l">
              <a:spcBef>
                <a:spcPts val="0"/>
              </a:spcBef>
              <a:spcAft>
                <a:spcPts val="0"/>
              </a:spcAft>
              <a:buSzPts val="1000"/>
              <a:buChar char="●"/>
            </a:pPr>
            <a:r>
              <a:rPr lang="en"/>
              <a:t>Those who have large capital that can’t ignore P2P, but are too cautious/risk averse due to no tools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1"/>
          <p:cNvSpPr txBox="1"/>
          <p:nvPr>
            <p:ph idx="4294967295" type="title"/>
          </p:nvPr>
        </p:nvSpPr>
        <p:spPr>
          <a:xfrm>
            <a:off x="361975" y="988555"/>
            <a:ext cx="3860100" cy="30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we asking?</a:t>
            </a:r>
            <a:endParaRPr/>
          </a:p>
        </p:txBody>
      </p:sp>
      <p:sp>
        <p:nvSpPr>
          <p:cNvPr id="550" name="Google Shape;550;p7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$2 Million in Seed Funding</a:t>
            </a:r>
            <a:endParaRPr/>
          </a:p>
        </p:txBody>
      </p:sp>
      <p:sp>
        <p:nvSpPr>
          <p:cNvPr id="551" name="Google Shape;551;p71"/>
          <p:cNvSpPr txBox="1"/>
          <p:nvPr>
            <p:ph idx="5" type="body"/>
          </p:nvPr>
        </p:nvSpPr>
        <p:spPr>
          <a:xfrm>
            <a:off x="4878975" y="3243900"/>
            <a:ext cx="1645800" cy="153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Year 1: LendingClub live environment, model validation</a:t>
            </a:r>
            <a:endParaRPr/>
          </a:p>
          <a:p>
            <a:pPr indent="0" lvl="0" marL="0" rtl="0" algn="l">
              <a:spcBef>
                <a:spcPts val="800"/>
              </a:spcBef>
              <a:spcAft>
                <a:spcPts val="0"/>
              </a:spcAft>
              <a:buNone/>
            </a:pPr>
            <a:r>
              <a:rPr lang="en"/>
              <a:t>Year 2: $10M Assets Under Management, expand to new platforms</a:t>
            </a:r>
            <a:endParaRPr/>
          </a:p>
          <a:p>
            <a:pPr indent="0" lvl="0" marL="0" rtl="0" algn="l">
              <a:spcBef>
                <a:spcPts val="800"/>
              </a:spcBef>
              <a:spcAft>
                <a:spcPts val="800"/>
              </a:spcAft>
              <a:buNone/>
            </a:pPr>
            <a:r>
              <a:rPr lang="en"/>
              <a:t>Year 3: $50M Assets Under Management, expand as a standalone service</a:t>
            </a:r>
            <a:endParaRPr/>
          </a:p>
        </p:txBody>
      </p:sp>
      <p:sp>
        <p:nvSpPr>
          <p:cNvPr id="552" name="Google Shape;552;p71"/>
          <p:cNvSpPr txBox="1"/>
          <p:nvPr>
            <p:ph idx="8" type="body"/>
          </p:nvPr>
        </p:nvSpPr>
        <p:spPr>
          <a:xfrm>
            <a:off x="2627075" y="3243900"/>
            <a:ext cx="1645800" cy="153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$1.2M: Deployed investment capital on LendingClub</a:t>
            </a:r>
            <a:endParaRPr/>
          </a:p>
          <a:p>
            <a:pPr indent="0" lvl="0" marL="0" rtl="0" algn="l">
              <a:spcBef>
                <a:spcPts val="800"/>
              </a:spcBef>
              <a:spcAft>
                <a:spcPts val="0"/>
              </a:spcAft>
              <a:buNone/>
            </a:pPr>
            <a:r>
              <a:rPr lang="en"/>
              <a:t>$400K: Engineering/Infrastructure</a:t>
            </a:r>
            <a:endParaRPr/>
          </a:p>
          <a:p>
            <a:pPr indent="0" lvl="0" marL="0" rtl="0" algn="l">
              <a:spcBef>
                <a:spcPts val="800"/>
              </a:spcBef>
              <a:spcAft>
                <a:spcPts val="0"/>
              </a:spcAft>
              <a:buNone/>
            </a:pPr>
            <a:r>
              <a:rPr lang="en"/>
              <a:t>$250K: Operations/Compliance</a:t>
            </a:r>
            <a:endParaRPr/>
          </a:p>
          <a:p>
            <a:pPr indent="0" lvl="0" marL="0" rtl="0" algn="l">
              <a:spcBef>
                <a:spcPts val="800"/>
              </a:spcBef>
              <a:spcAft>
                <a:spcPts val="800"/>
              </a:spcAft>
              <a:buNone/>
            </a:pPr>
            <a:r>
              <a:rPr lang="en"/>
              <a:t>$150K: Marketing/Investor Relations</a:t>
            </a:r>
            <a:endParaRPr/>
          </a:p>
        </p:txBody>
      </p:sp>
      <p:sp>
        <p:nvSpPr>
          <p:cNvPr id="553" name="Google Shape;553;p71"/>
          <p:cNvSpPr txBox="1"/>
          <p:nvPr>
            <p:ph idx="2" type="body"/>
          </p:nvPr>
        </p:nvSpPr>
        <p:spPr>
          <a:xfrm>
            <a:off x="7130875" y="3243900"/>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We have the model, we know the market. We need the capital!</a:t>
            </a:r>
            <a:endParaRPr/>
          </a:p>
        </p:txBody>
      </p:sp>
      <p:sp>
        <p:nvSpPr>
          <p:cNvPr id="554" name="Google Shape;554;p7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Timeline</a:t>
            </a:r>
            <a:endParaRPr/>
          </a:p>
        </p:txBody>
      </p:sp>
      <p:sp>
        <p:nvSpPr>
          <p:cNvPr id="555" name="Google Shape;555;p7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How it Will Be Used</a:t>
            </a:r>
            <a:endParaRPr/>
          </a:p>
        </p:txBody>
      </p:sp>
      <p:sp>
        <p:nvSpPr>
          <p:cNvPr id="556" name="Google Shape;556;p71"/>
          <p:cNvSpPr txBox="1"/>
          <p:nvPr>
            <p:ph idx="14" type="body"/>
          </p:nvPr>
        </p:nvSpPr>
        <p:spPr>
          <a:xfrm>
            <a:off x="361975" y="3243900"/>
            <a:ext cx="1645800" cy="6801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Equity based investment in Highlander Lending Partners</a:t>
            </a:r>
            <a:endParaRPr/>
          </a:p>
        </p:txBody>
      </p:sp>
      <p:sp>
        <p:nvSpPr>
          <p:cNvPr id="557" name="Google Shape;557;p7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Money</a:t>
            </a:r>
            <a:endParaRPr/>
          </a:p>
        </p:txBody>
      </p:sp>
      <p:sp>
        <p:nvSpPr>
          <p:cNvPr id="558" name="Google Shape;558;p71"/>
          <p:cNvSpPr txBox="1"/>
          <p:nvPr>
            <p:ph type="title"/>
          </p:nvPr>
        </p:nvSpPr>
        <p:spPr>
          <a:xfrm>
            <a:off x="1406600" y="98855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What are we asking?</a:t>
            </a:r>
            <a:endParaRPr/>
          </a:p>
        </p:txBody>
      </p:sp>
      <p:pic>
        <p:nvPicPr>
          <p:cNvPr id="559" name="Google Shape;559;p71"/>
          <p:cNvPicPr preferRelativeResize="0"/>
          <p:nvPr/>
        </p:nvPicPr>
        <p:blipFill>
          <a:blip r:embed="rId3">
            <a:alphaModFix/>
          </a:blip>
          <a:stretch>
            <a:fillRect/>
          </a:stretch>
        </p:blipFill>
        <p:spPr>
          <a:xfrm>
            <a:off x="425375" y="50124"/>
            <a:ext cx="2181673" cy="21816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